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914400" y="-914400"/>
            <a:ext cx="3657600" cy="36576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2743200" cy="2743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-914400"/>
            <a:ext cx="2286000" cy="22860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0" y="731520"/>
            <a:ext cx="2286000" cy="2286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731520"/>
            <a:ext cx="22860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0">
                <a:solidFill>
                  <a:srgbClr val="0F172A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Agent Skill 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0">
                <a:solidFill>
                  <a:srgbClr val="DBEAFE"/>
                </a:solidFill>
                <a:latin typeface="Segoe UI"/>
              </a:defRPr>
            </a:pPr>
            <a:r>
              <a:t>Intelligent Skill Routing for AI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Just-in-time AI expertise. Routed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29200"/>
            <a:ext cx="2286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What Is the Agent Skill Router?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645920"/>
            <a:ext cx="3200400" cy="3200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1,236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Skills Loaded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1645920"/>
            <a:ext cx="3200400" cy="3200400"/>
          </a:xfrm>
          <a:prstGeom prst="ellipse">
            <a:avLst/>
          </a:prstGeom>
          <a:noFill/>
          <a:ln w="254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Embeds tasks into vector space</a:t>
            </a:r>
          </a:p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Retrieves matching skills via hybrid scoring</a:t>
            </a:r>
          </a:p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Delivers expert knowledge to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801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How it works — in brief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Request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371600"/>
            <a:ext cx="1005840" cy="100584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6800" y="1737360"/>
            <a:ext cx="457200" cy="274320"/>
          </a:xfrm>
          <a:prstGeom prst="rightArrow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User</a:t>
            </a:r>
            <a:br/>
            <a:r>
              <a:t>query</a:t>
            </a:r>
          </a:p>
        </p:txBody>
      </p:sp>
      <p:sp>
        <p:nvSpPr>
          <p:cNvPr id="10" name="Oval 9"/>
          <p:cNvSpPr/>
          <p:nvPr/>
        </p:nvSpPr>
        <p:spPr>
          <a:xfrm>
            <a:off x="2798064" y="1371600"/>
            <a:ext cx="1005840" cy="10058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98064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29024" y="1737360"/>
            <a:ext cx="457200" cy="274320"/>
          </a:xfrm>
          <a:prstGeom prst="rightArrow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Task</a:t>
            </a:r>
            <a:br/>
            <a:r>
              <a:t>embedding</a:t>
            </a:r>
          </a:p>
        </p:txBody>
      </p:sp>
      <p:sp>
        <p:nvSpPr>
          <p:cNvPr id="14" name="Oval 13"/>
          <p:cNvSpPr/>
          <p:nvPr/>
        </p:nvSpPr>
        <p:spPr>
          <a:xfrm>
            <a:off x="4590288" y="1371600"/>
            <a:ext cx="1005840" cy="10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21248" y="1737360"/>
            <a:ext cx="457200" cy="274320"/>
          </a:xfrm>
          <a:prstGeom prst="rightArrow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5968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Hybrid</a:t>
            </a:r>
            <a:br/>
            <a:r>
              <a:t>search</a:t>
            </a:r>
          </a:p>
        </p:txBody>
      </p:sp>
      <p:sp>
        <p:nvSpPr>
          <p:cNvPr id="18" name="Oval 17"/>
          <p:cNvSpPr/>
          <p:nvPr/>
        </p:nvSpPr>
        <p:spPr>
          <a:xfrm>
            <a:off x="6382512" y="1371600"/>
            <a:ext cx="1005840" cy="10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13472" y="1737360"/>
            <a:ext cx="457200" cy="274320"/>
          </a:xfrm>
          <a:prstGeom prst="rightArrow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LLM</a:t>
            </a:r>
            <a:br/>
            <a:r>
              <a:t>ranking</a:t>
            </a:r>
          </a:p>
        </p:txBody>
      </p:sp>
      <p:sp>
        <p:nvSpPr>
          <p:cNvPr id="22" name="Oval 21"/>
          <p:cNvSpPr/>
          <p:nvPr/>
        </p:nvSpPr>
        <p:spPr>
          <a:xfrm>
            <a:off x="8174736" y="1371600"/>
            <a:ext cx="1005840" cy="10058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505696" y="1737360"/>
            <a:ext cx="457200" cy="274320"/>
          </a:xfrm>
          <a:prstGeom prst="rightArrow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6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Skill</a:t>
            </a:r>
            <a:br/>
            <a:r>
              <a:t>fetch</a:t>
            </a:r>
          </a:p>
        </p:txBody>
      </p:sp>
      <p:sp>
        <p:nvSpPr>
          <p:cNvPr id="26" name="Oval 25"/>
          <p:cNvSpPr/>
          <p:nvPr/>
        </p:nvSpPr>
        <p:spPr>
          <a:xfrm>
            <a:off x="9966960" y="1371600"/>
            <a:ext cx="1005840" cy="100584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0" y="1371600"/>
            <a:ext cx="1005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560320"/>
            <a:ext cx="1554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Context</a:t>
            </a:r>
            <a:br/>
            <a:r>
              <a:t>injection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4389120"/>
            <a:ext cx="576072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0" y="4434840"/>
            <a:ext cx="5760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  <a:latin typeface="Calibri"/>
              </a:defRPr>
            </a:pPr>
            <a:r>
              <a:t>⚡  ~10ms warm   |   ~3.5s cold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Six-Stage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46304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463040"/>
            <a:ext cx="29260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57400" y="17830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6888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34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~0.1ms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463040"/>
            <a:ext cx="292608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40680" y="178308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~200ms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46304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46304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823960" y="17830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246888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283464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~0.1ms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365760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3657600"/>
            <a:ext cx="292608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57400" y="39776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6634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Diversify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0292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~0.1ms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65760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657600"/>
            <a:ext cx="292608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3977640"/>
            <a:ext cx="640080" cy="6400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634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292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~3s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3657600"/>
            <a:ext cx="29260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0" y="3657600"/>
            <a:ext cx="29260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23960" y="3977640"/>
            <a:ext cx="640080" cy="64008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0" y="46634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5029200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~0.1ms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0" y="5303520"/>
            <a:ext cx="2103120" cy="21031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0" y="5486400"/>
            <a:ext cx="2103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58978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Cache Hit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Skills: The Knowledge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3657600"/>
            <a:ext cx="320040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4023360"/>
            <a:ext cx="13716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4251960"/>
            <a:ext cx="13716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5920" y="3794760"/>
            <a:ext cx="3200400" cy="10972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20240" y="4160520"/>
            <a:ext cx="13716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20240" y="4389120"/>
            <a:ext cx="13716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931920"/>
            <a:ext cx="3200400" cy="109728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4297680"/>
            <a:ext cx="1371600" cy="38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4526280"/>
            <a:ext cx="1371600" cy="381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196596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SKILL.md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657600"/>
            <a:ext cx="2286000" cy="5486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6576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B2A4A"/>
                </a:solidFill>
                <a:latin typeface="Calibri"/>
              </a:defRPr>
            </a:pPr>
            <a:r>
              <a:t>24 domains · 8 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1,236 files across 24 domains</a:t>
            </a:r>
          </a:p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YAML frontmatter + structured markdown</a:t>
            </a:r>
          </a:p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Zero tolerance for stubs: 3KB minimum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Hybrid Scoring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Vector Similarity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920240"/>
            <a:ext cx="6858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1920240"/>
            <a:ext cx="365760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1828800"/>
            <a:ext cx="1097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BM25 Term Match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834640"/>
            <a:ext cx="6858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2834640"/>
            <a:ext cx="219456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0" y="2743200"/>
            <a:ext cx="1097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57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Trigger Keywords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3749040"/>
            <a:ext cx="6858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0" y="3749040"/>
            <a:ext cx="10972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657600"/>
            <a:ext cx="1097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720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Archetype Alignment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663440"/>
            <a:ext cx="68580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4663440"/>
            <a:ext cx="731520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0" y="4572000"/>
            <a:ext cx="1097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12064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475569"/>
                </a:solidFill>
                <a:latin typeface="Calibri"/>
              </a:defRPr>
            </a:pPr>
            <a:r>
              <a:t>5 independent signals → weighted composite score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Dynamic Discovery &amp; Self-Healing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463040"/>
            <a:ext cx="2286000" cy="34747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463040"/>
            <a:ext cx="2286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1640" y="1828800"/>
            <a:ext cx="1097280" cy="10972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10972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0F172A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00400"/>
            <a:ext cx="2011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Trigger→</a:t>
            </a:r>
            <a:br/>
            <a:r>
              <a:t>Domain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4206240"/>
            <a:ext cx="13716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42519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Auto-discovered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1463040"/>
            <a:ext cx="2286000" cy="34747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0" y="1463040"/>
            <a:ext cx="22860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34840" y="182880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828800"/>
            <a:ext cx="10972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0F172A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3200400"/>
            <a:ext cx="2011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Auto-Skill</a:t>
            </a:r>
            <a:br/>
            <a:r>
              <a:t>Creation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06240"/>
            <a:ext cx="13716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42519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Self-generating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463040"/>
            <a:ext cx="2286000" cy="34747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1463040"/>
            <a:ext cx="228600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78040" y="182880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1828800"/>
            <a:ext cx="10972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0F172A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200400"/>
            <a:ext cx="2011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Periodic</a:t>
            </a:r>
            <a:br/>
            <a:r>
              <a:t>Refresh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4206240"/>
            <a:ext cx="13716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42519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Every 3,600s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1463040"/>
            <a:ext cx="2286000" cy="347472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0" y="1463040"/>
            <a:ext cx="22860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21240" y="1828800"/>
            <a:ext cx="1097280" cy="10972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1828800"/>
            <a:ext cx="10972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0F172A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200400"/>
            <a:ext cx="2011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Token</a:t>
            </a:r>
            <a:br/>
            <a:r>
              <a:t>Tracking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84080" y="4206240"/>
            <a:ext cx="13716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4080" y="4251960"/>
            <a:ext cx="1371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End-to-end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Safety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1645920"/>
            <a:ext cx="2743200" cy="2743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0" b="0">
                <a:solidFill>
                  <a:srgbClr val="0F172A"/>
                </a:solidFill>
                <a:latin typeface="Calibri"/>
              </a:defRPr>
            </a:pPr>
            <a:r>
              <a:t>🛡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1645920"/>
            <a:ext cx="3108960" cy="3108960"/>
          </a:xfrm>
          <a:prstGeom prst="ellipse">
            <a:avLst/>
          </a:prstGeom>
          <a:noFill/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Two-tier injection detection</a:t>
            </a:r>
          </a:p>
          <a:p>
            <a:pPr>
              <a:spcBef>
                <a:spcPts val="800"/>
              </a:spcBef>
              <a:defRPr sz="1800">
                <a:solidFill>
                  <a:srgbClr val="0F172A"/>
                </a:solidFill>
                <a:latin typeface="Calibri"/>
              </a:defRPr>
            </a:pPr>
            <a:r>
              <a:t>▸ Requires 2+ threat signals to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5544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Calibri"/>
              </a:defRPr>
            </a:pPr>
            <a:r>
              <a:t>Protecting AI agents from prompt injection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389120"/>
            <a:ext cx="6400800" cy="7315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4434840"/>
            <a:ext cx="6400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92400E"/>
                </a:solidFill>
                <a:latin typeface="Calibri"/>
              </a:defRPr>
            </a:pPr>
            <a:r>
              <a:t>⚠ SAFETY_STRICT=true → single signal triggers block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Token Efficiency via Compression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828800"/>
            <a:ext cx="411480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2057400"/>
            <a:ext cx="3566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3B82F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Calibri"/>
              </a:defRPr>
            </a:pPr>
            <a:r>
              <a:t>Cache Hit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28800"/>
            <a:ext cx="411480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2057400"/>
            <a:ext cx="3566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0B981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926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Calibri"/>
              </a:defRPr>
            </a:pPr>
            <a:r>
              <a:t>Max Token Savings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4114800"/>
            <a:ext cx="411480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4343400"/>
            <a:ext cx="3566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9E0B"/>
                </a:solidFill>
                <a:latin typeface="Segoe UI"/>
              </a:defRPr>
            </a:pPr>
            <a:r>
              <a:t>3-tier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212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Calibri"/>
              </a:defRPr>
            </a:pPr>
            <a:r>
              <a:t>Memory → Disk → GitHub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4114800"/>
            <a:ext cx="4114800" cy="18288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4343400"/>
            <a:ext cx="3566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~1.27s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5212080"/>
            <a:ext cx="3566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475569"/>
                </a:solidFill>
                <a:latin typeface="Calibri"/>
              </a:defRPr>
            </a:pPr>
            <a:r>
              <a:t>Startup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Get Started in 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38900"/>
            <a:ext cx="7315200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Agent Skill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2926080" cy="32004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554480"/>
            <a:ext cx="292608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23160" y="1874520"/>
            <a:ext cx="594360" cy="5943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8745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560320"/>
            <a:ext cx="137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0">
                <a:solidFill>
                  <a:srgbClr val="0F172A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0040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Clone &amp;</a:t>
            </a:r>
            <a:br/>
            <a:r>
              <a:t>Install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4023360"/>
            <a:ext cx="237744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06908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./install-skill-router.sh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554480"/>
            <a:ext cx="2926080" cy="32004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554480"/>
            <a:ext cx="29260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0" y="1874520"/>
            <a:ext cx="594360" cy="59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8745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560320"/>
            <a:ext cx="137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0">
                <a:solidFill>
                  <a:srgbClr val="0F172A"/>
                </a:solidFill>
                <a:latin typeface="Calibri"/>
              </a:defRPr>
            </a:pPr>
            <a:r>
              <a:t>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20040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Configure</a:t>
            </a:r>
            <a:br/>
            <a:r>
              <a:t>API Keys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9240" y="4023360"/>
            <a:ext cx="237744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406908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B2A4A"/>
                </a:solidFill>
                <a:latin typeface="Calibri"/>
              </a:defRPr>
            </a:pPr>
            <a:r>
              <a:t>Interactive prompts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1554480"/>
            <a:ext cx="2926080" cy="320040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78240" y="1554480"/>
            <a:ext cx="2926080" cy="91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29800" y="1874520"/>
            <a:ext cx="594360" cy="5943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1874520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560320"/>
            <a:ext cx="1371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0">
                <a:solidFill>
                  <a:srgbClr val="0F172A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200400"/>
            <a:ext cx="2377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Auto-route</a:t>
            </a:r>
            <a:br/>
            <a:r>
              <a:t>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4023360"/>
            <a:ext cx="237744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6908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B2A4A"/>
                </a:solidFill>
                <a:latin typeface="Calibri"/>
              </a:defRPr>
            </a:pPr>
            <a:r>
              <a:t>route_to_skill() enabled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0" y="5532120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API: localhost:3000  |  Docker + systemd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